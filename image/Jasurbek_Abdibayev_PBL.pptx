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9144000"/>
  <p:embeddedFontLst>
    <p:embeddedFont>
      <p:font typeface="Inter SemiBold" charset="0"/>
      <p:regular r:id="rId22"/>
      <p:bold r:id="rId23"/>
      <p:italic r:id="rId24"/>
      <p:boldItalic r:id="rId25"/>
    </p:embeddedFont>
    <p:embeddedFont>
      <p:font typeface="Poppins" charset="0"/>
      <p:regular r:id="rId26"/>
      <p:bold r:id="rId27"/>
      <p:italic r:id="rId28"/>
      <p:boldItalic r:id="rId29"/>
    </p:embeddedFont>
    <p:embeddedFont>
      <p:font typeface="Inter" charset="0"/>
      <p:regular r:id="rId30"/>
      <p:bold r:id="rId31"/>
      <p:italic r:id="rId32"/>
      <p:boldItalic r:id="rId33"/>
    </p:embeddedFont>
    <p:embeddedFont>
      <p:font typeface="Fira Code" charset="0"/>
      <p:regular r:id="rId34"/>
      <p:bold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60"/>
        <p:guide pos="2926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5" Type="http://schemas.openxmlformats.org/officeDocument/2006/relationships/font" Target="fonts/font14.fntdata"/><Relationship Id="rId34" Type="http://schemas.openxmlformats.org/officeDocument/2006/relationships/font" Target="fonts/font13.fntdata"/><Relationship Id="rId33" Type="http://schemas.openxmlformats.org/officeDocument/2006/relationships/font" Target="fonts/font12.fntdata"/><Relationship Id="rId32" Type="http://schemas.openxmlformats.org/officeDocument/2006/relationships/font" Target="fonts/font11.fntdata"/><Relationship Id="rId31" Type="http://schemas.openxmlformats.org/officeDocument/2006/relationships/font" Target="fonts/font10.fntdata"/><Relationship Id="rId30" Type="http://schemas.openxmlformats.org/officeDocument/2006/relationships/font" Target="fonts/font9.fntdata"/><Relationship Id="rId3" Type="http://schemas.openxmlformats.org/officeDocument/2006/relationships/slide" Target="slides/slide1.xml"/><Relationship Id="rId29" Type="http://schemas.openxmlformats.org/officeDocument/2006/relationships/font" Target="fonts/font8.fntdata"/><Relationship Id="rId28" Type="http://schemas.openxmlformats.org/officeDocument/2006/relationships/font" Target="fonts/font7.fntdata"/><Relationship Id="rId27" Type="http://schemas.openxmlformats.org/officeDocument/2006/relationships/font" Target="fonts/font6.fntdata"/><Relationship Id="rId26" Type="http://schemas.openxmlformats.org/officeDocument/2006/relationships/font" Target="fonts/font5.fntdata"/><Relationship Id="rId25" Type="http://schemas.openxmlformats.org/officeDocument/2006/relationships/font" Target="fonts/font4.fntdata"/><Relationship Id="rId24" Type="http://schemas.openxmlformats.org/officeDocument/2006/relationships/font" Target="fonts/font3.fntdata"/><Relationship Id="rId23" Type="http://schemas.openxmlformats.org/officeDocument/2006/relationships/font" Target="fonts/font2.fntdata"/><Relationship Id="rId22" Type="http://schemas.openxmlformats.org/officeDocument/2006/relationships/font" Target="fonts/font1.fntdata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3" name="Google Shape;93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4" name="Google Shape;114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4" name="Google Shape;134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0" name="Google Shape;150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8" name="Google Shape;168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8" name="Google Shape;198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8" name="Google Shape;218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3" name="Google Shape;233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51" name="Google Shape;251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5" name="Google Shape;265;p1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7" name="Google Shape;277;p1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4" name="Google Shape;294;p1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3" name="Google Shape;313;p1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3" name="Google Shape;333;p1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25.png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35.png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4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55.png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643437" y="1320829"/>
            <a:ext cx="29051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195387" y="1863119"/>
            <a:ext cx="9801225" cy="107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62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Parking Boshqaruv Tizimi</a:t>
            </a:r>
            <a:endParaRPr lang="en-US" sz="5625" b="1" i="0" u="none" strike="noStrike" cap="none">
              <a:solidFill>
                <a:srgbClr val="0033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3981450" y="3544599"/>
            <a:ext cx="422910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Yakuniy Hisobot va Texnik Taqdimot</a:t>
            </a:r>
            <a:endParaRPr lang="en-US" sz="1950" b="0" i="0" u="none" strike="noStrike" cap="none">
              <a:solidFill>
                <a:srgbClr val="64748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3781425" y="4831050"/>
            <a:ext cx="4629150" cy="18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DAA520"/>
                </a:solidFill>
                <a:latin typeface="Inter"/>
                <a:ea typeface="Inter"/>
                <a:cs typeface="Inter"/>
                <a:sym typeface="Inter"/>
              </a:rPr>
              <a:t>PYTHON | JSON DATABASE | CLI INTERFACE</a:t>
            </a:r>
            <a:endParaRPr lang="en-US" sz="1200" b="1" i="0" u="none" strike="noStrike" cap="none">
              <a:solidFill>
                <a:srgbClr val="DAA52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571500" y="2571750"/>
            <a:ext cx="3492400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349650" y="2571750"/>
            <a:ext cx="3492549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8127950" y="2571750"/>
            <a:ext cx="3492400" cy="17907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762000" y="71374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LOYIHA JAMOASI</a:t>
            </a:r>
            <a:endParaRPr lang="en-US" sz="3000" b="1" i="0" u="none" strike="noStrike" cap="none">
              <a:solidFill>
                <a:srgbClr val="0033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474345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0336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Guruh: ISEP-302 | O'qituvchi: Hamzayev Jamshid</a:t>
            </a:r>
            <a:endParaRPr lang="en-US" sz="1500" b="0" i="0" u="none" strike="noStrike" cap="none">
              <a:solidFill>
                <a:srgbClr val="003366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960512" y="2809875"/>
            <a:ext cx="71437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734221" y="3524250"/>
            <a:ext cx="3166958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Jasurbek Abdibayev</a:t>
            </a:r>
            <a:endParaRPr lang="en-US" sz="1650" b="1" i="0" u="none" strike="noStrike" cap="none">
              <a:solidFill>
                <a:srgbClr val="0033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1469975" y="3905250"/>
            <a:ext cx="1695450" cy="322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AA52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TEAM LEADER / Backend DEV</a:t>
            </a:r>
            <a:endParaRPr lang="en-US" sz="1050" b="0" i="0" u="none" strike="noStrike" cap="none">
              <a:solidFill>
                <a:srgbClr val="DAA52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38663" y="2809875"/>
            <a:ext cx="71437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4512368" y="3524250"/>
            <a:ext cx="3167114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Abdulaziz Zokirjonov</a:t>
            </a:r>
            <a:endParaRPr lang="en-US" sz="1650" b="1" i="0" u="none" strike="noStrike" cap="none">
              <a:solidFill>
                <a:srgbClr val="0033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5371951" y="3905250"/>
            <a:ext cx="1447800" cy="161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AA52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DATABASE DEV</a:t>
            </a:r>
            <a:endParaRPr lang="en-US" sz="1050" b="0" i="0" u="none" strike="noStrike" cap="none">
              <a:solidFill>
                <a:srgbClr val="DAA52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08" name="Google Shape;108;p14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9516963" y="2809875"/>
            <a:ext cx="71437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8290671" y="3524250"/>
            <a:ext cx="3166958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Kamron Meliboyev</a:t>
            </a:r>
            <a:endParaRPr lang="en-US" sz="1650" b="1" i="0" u="none" strike="noStrike" cap="none">
              <a:solidFill>
                <a:srgbClr val="0033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9121675" y="3905250"/>
            <a:ext cx="15049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DAA52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QA / DOCUMENTATION</a:t>
            </a:r>
            <a:endParaRPr lang="en-US" sz="1050" b="0" i="0" u="none" strike="noStrike" cap="none">
              <a:solidFill>
                <a:srgbClr val="DAA520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514600"/>
            <a:ext cx="5286375" cy="278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762000" y="71374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LOYIHA MAQSADI VA QAMROVI</a:t>
            </a:r>
            <a:endParaRPr lang="en-US" sz="3000" b="1" i="0" u="none" strike="noStrike" cap="none">
              <a:solidFill>
                <a:srgbClr val="0033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0" name="Google Shape;120;p1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66775" y="2809875"/>
            <a:ext cx="46958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866775" y="3429000"/>
            <a:ext cx="4930616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Asosiy Maqsad</a:t>
            </a:r>
            <a:endParaRPr lang="en-US" sz="1405" b="1" i="0" u="none" strike="noStrike" cap="none">
              <a:solidFill>
                <a:srgbClr val="0033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866775" y="3895725"/>
            <a:ext cx="46958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Parking jarayonlarini to'liq avtomatlashtirish, inson omilini kamaytirish va hisob-kitoblar shaffofligini ta'minlovchi konsol tizimini ishlab chiqish.</a:t>
            </a:r>
            <a:endParaRPr lang="en-US" sz="1500" b="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6762750" y="3124200"/>
            <a:ext cx="48577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10 ta slotni real-vaqtda boshqarish.</a:t>
            </a:r>
            <a:endParaRPr lang="en-US" sz="1425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6762750" y="3552825"/>
            <a:ext cx="48577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3 darajali foydalanuvchi rollari.</a:t>
            </a:r>
            <a:endParaRPr lang="en-US" sz="1425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6762750" y="3981450"/>
            <a:ext cx="48577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Xavfsiz autentifikatsiya tizimi.</a:t>
            </a:r>
            <a:endParaRPr lang="en-US" sz="1425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6762750" y="4410075"/>
            <a:ext cx="48577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Ma'lumotlarni doimiy saqlash (JSON).</a:t>
            </a:r>
            <a:endParaRPr lang="en-US" sz="1425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27" name="Google Shape;127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334125" y="3157537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334125" y="3586162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334125" y="4014787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5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334125" y="4443412"/>
            <a:ext cx="219075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3085207"/>
            <a:ext cx="5286375" cy="1640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34125" y="3085207"/>
            <a:ext cx="5286375" cy="164008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772795" y="71374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MUAMMO VA TAKLIF ETILGAN YECHIM</a:t>
            </a:r>
            <a:endParaRPr lang="en-US" sz="3000" b="1" i="0" u="none" strike="noStrike" cap="none">
              <a:solidFill>
                <a:srgbClr val="0033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857250" y="3370957"/>
            <a:ext cx="495061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9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991B1B"/>
                </a:solidFill>
                <a:latin typeface="Poppins"/>
                <a:ea typeface="Poppins"/>
                <a:cs typeface="Poppins"/>
                <a:sym typeface="Poppins"/>
              </a:rPr>
              <a:t>Muammolar</a:t>
            </a:r>
            <a:endParaRPr lang="en-US" sz="1405" b="1" i="0" u="none" strike="noStrike" cap="none">
              <a:solidFill>
                <a:srgbClr val="991B1B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857250" y="3799582"/>
            <a:ext cx="47148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Slotlar bandligini qo'lda tekshirish, to'lov xatolari va tizimsiz rezervatsiyalar.</a:t>
            </a:r>
            <a:endParaRPr lang="en-US" sz="1200" b="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6619875" y="3370957"/>
            <a:ext cx="4950618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000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Yechim</a:t>
            </a:r>
            <a:endParaRPr lang="en-US" sz="1405" b="1" i="0" u="none" strike="noStrike" cap="none">
              <a:solidFill>
                <a:srgbClr val="16653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6619875" y="3799582"/>
            <a:ext cx="4714875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Avtomatik slot qidirish, soatbay to'lov algoritmi va masofaviy bronlash funksiyasi.</a:t>
            </a:r>
            <a:endParaRPr lang="en-US" sz="1200" b="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145" name="Google Shape;145;p16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57250" y="3418582"/>
            <a:ext cx="180975" cy="1782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619875" y="3418582"/>
            <a:ext cx="200025" cy="178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1413510"/>
            <a:ext cx="5368290" cy="498348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790575" y="681355"/>
            <a:ext cx="11401425" cy="46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LOYIHA STRUKTURASI </a:t>
            </a:r>
            <a:endParaRPr lang="en-US" sz="3000" b="1" i="0" u="none" strike="noStrike" cap="none">
              <a:solidFill>
                <a:srgbClr val="0033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 txBox="1"/>
          <p:nvPr/>
        </p:nvSpPr>
        <p:spPr>
          <a:xfrm>
            <a:off x="1305560" y="1710690"/>
            <a:ext cx="3900170" cy="4389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bg1"/>
                </a:solidFill>
                <a:latin typeface="Fira Code"/>
                <a:ea typeface="Fira Code"/>
                <a:cs typeface="Fira Code"/>
                <a:sym typeface="Fira Code"/>
              </a:rPr>
              <a:t>       [ FOYDALANUVCHI INTERFEYSI ]</a:t>
            </a:r>
            <a:endParaRPr lang="en-US" sz="1200" b="0" i="0" u="none" strike="noStrike" cap="none">
              <a:solidFill>
                <a:schemeClr val="bg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marL="0" marR="0" lvl="0" indent="0" algn="ctr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bg1"/>
                </a:solidFill>
                <a:latin typeface="Fira Code"/>
                <a:ea typeface="Fira Code"/>
                <a:cs typeface="Fira Code"/>
                <a:sym typeface="Fira Code"/>
              </a:rPr>
              <a:t>            |</a:t>
            </a:r>
            <a:endParaRPr lang="en-US" sz="1200" b="0" i="0" u="none" strike="noStrike" cap="none">
              <a:solidFill>
                <a:schemeClr val="bg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marL="0" marR="0" lvl="0" indent="0" algn="ctr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bg1"/>
                </a:solidFill>
                <a:latin typeface="Fira Code"/>
                <a:ea typeface="Fira Code"/>
                <a:cs typeface="Fira Code"/>
                <a:sym typeface="Fira Code"/>
              </a:rPr>
              <a:t>            (1) main.py (YUZ)</a:t>
            </a:r>
            <a:endParaRPr lang="en-US" sz="1200" b="0" i="0" u="none" strike="noStrike" cap="none">
              <a:solidFill>
                <a:schemeClr val="bg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marL="0" marR="0" lvl="0" indent="0" algn="ctr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bg1"/>
                </a:solidFill>
                <a:latin typeface="Fira Code"/>
                <a:ea typeface="Fira Code"/>
                <a:cs typeface="Fira Code"/>
                <a:sym typeface="Fira Code"/>
              </a:rPr>
              <a:t>          /        |         \</a:t>
            </a:r>
            <a:endParaRPr lang="en-US" sz="1200" b="0" i="0" u="none" strike="noStrike" cap="none">
              <a:solidFill>
                <a:schemeClr val="bg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marL="0" marR="0" lvl="0" indent="0" algn="ctr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bg1"/>
                </a:solidFill>
                <a:latin typeface="Fira Code"/>
                <a:ea typeface="Fira Code"/>
                <a:cs typeface="Fira Code"/>
                <a:sym typeface="Fira Code"/>
              </a:rPr>
              <a:t>         /         |          \</a:t>
            </a:r>
            <a:endParaRPr lang="en-US" sz="1200" b="0" i="0" u="none" strike="noStrike" cap="none">
              <a:solidFill>
                <a:schemeClr val="bg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marL="0" marR="0" lvl="0" indent="0" algn="ctr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bg1"/>
                </a:solidFill>
                <a:latin typeface="Fira Code"/>
                <a:ea typeface="Fira Code"/>
                <a:cs typeface="Fira Code"/>
                <a:sym typeface="Fira Code"/>
              </a:rPr>
              <a:t>[ (2) SERVICES ] &lt;---&gt; [ (3) MODELS ]</a:t>
            </a:r>
            <a:endParaRPr lang="en-US" sz="1200" b="0" i="0" u="none" strike="noStrike" cap="none">
              <a:solidFill>
                <a:schemeClr val="bg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marL="0" marR="0" lvl="0" indent="0" algn="ctr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bg1"/>
                </a:solidFill>
                <a:latin typeface="Fira Code"/>
                <a:ea typeface="Fira Code"/>
                <a:cs typeface="Fira Code"/>
                <a:sym typeface="Fira Code"/>
              </a:rPr>
              <a:t>      |            |           |</a:t>
            </a:r>
            <a:endParaRPr lang="en-US" sz="1200" b="0" i="0" u="none" strike="noStrike" cap="none">
              <a:solidFill>
                <a:schemeClr val="bg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marL="0" marR="0" lvl="0" indent="0" algn="ctr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bg1"/>
                </a:solidFill>
                <a:latin typeface="Fira Code"/>
                <a:ea typeface="Fira Code"/>
                <a:cs typeface="Fira Code"/>
                <a:sym typeface="Fira Code"/>
              </a:rPr>
              <a:t>      |            |           |</a:t>
            </a:r>
            <a:endParaRPr lang="en-US" sz="1200" b="0" i="0" u="none" strike="noStrike" cap="none">
              <a:solidFill>
                <a:schemeClr val="bg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marL="0" marR="0" lvl="0" indent="0" algn="ctr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bg1"/>
                </a:solidFill>
                <a:latin typeface="Fira Code"/>
                <a:ea typeface="Fira Code"/>
                <a:cs typeface="Fira Code"/>
                <a:sym typeface="Fira Code"/>
              </a:rPr>
              <a:t>[ (4) UTILS ]      |     [ (5) DATA ]</a:t>
            </a:r>
            <a:endParaRPr lang="en-US" sz="1200" b="0" i="0" u="none" strike="noStrike" cap="none">
              <a:solidFill>
                <a:schemeClr val="bg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marL="0" marR="0" lvl="0" indent="0" algn="ctr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bg1"/>
                </a:solidFill>
                <a:latin typeface="Fira Code"/>
                <a:ea typeface="Fira Code"/>
                <a:cs typeface="Fira Code"/>
                <a:sym typeface="Fira Code"/>
              </a:rPr>
              <a:t>      |            |           |</a:t>
            </a:r>
            <a:endParaRPr lang="en-US" sz="1200" b="0" i="0" u="none" strike="noStrike" cap="none">
              <a:solidFill>
                <a:schemeClr val="bg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marL="0" marR="0" lvl="0" indent="0" algn="ctr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bg1"/>
                </a:solidFill>
                <a:latin typeface="Fira Code"/>
                <a:ea typeface="Fira Code"/>
                <a:cs typeface="Fira Code"/>
                <a:sym typeface="Fira Code"/>
              </a:rPr>
              <a:t> (Validatsiya)     |      (data.json)</a:t>
            </a:r>
            <a:endParaRPr lang="en-US" sz="1200" b="0" i="0" u="none" strike="noStrike" cap="none">
              <a:solidFill>
                <a:schemeClr val="bg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marL="0" marR="0" lvl="0" indent="0" algn="ctr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bg1"/>
                </a:solidFill>
                <a:latin typeface="Fira Code"/>
                <a:ea typeface="Fira Code"/>
                <a:cs typeface="Fira Code"/>
                <a:sym typeface="Fira Code"/>
              </a:rPr>
              <a:t>     |</a:t>
            </a:r>
            <a:endParaRPr lang="en-US" sz="1200" b="0" i="0" u="none" strike="noStrike" cap="none">
              <a:solidFill>
                <a:schemeClr val="bg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marL="0" marR="0" lvl="0" indent="0" algn="ctr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bg1"/>
                </a:solidFill>
                <a:latin typeface="Fira Code"/>
                <a:ea typeface="Fira Code"/>
                <a:cs typeface="Fira Code"/>
                <a:sym typeface="Fira Code"/>
              </a:rPr>
              <a:t>       [ (6) TESTS ]</a:t>
            </a:r>
            <a:endParaRPr lang="en-US" sz="1200" b="0" i="0" u="none" strike="noStrike" cap="none">
              <a:solidFill>
                <a:schemeClr val="bg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marL="0" marR="0" lvl="0" indent="0" algn="ctr" rtl="0">
              <a:lnSpc>
                <a:spcPct val="1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bg1"/>
                </a:solidFill>
                <a:latin typeface="Fira Code"/>
                <a:ea typeface="Fira Code"/>
                <a:cs typeface="Fira Code"/>
                <a:sym typeface="Fira Code"/>
              </a:rPr>
              <a:t>          (Pytest)</a:t>
            </a:r>
            <a:endParaRPr lang="en-US" sz="1200" b="0" i="0" u="none" strike="noStrike" cap="none">
              <a:solidFill>
                <a:schemeClr val="bg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6243320" y="305435"/>
            <a:ext cx="5499735" cy="6078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Vazifasi</a:t>
            </a:r>
            <a:endParaRPr lang="en-US" sz="130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1. main.py =  Boshqaruv markazi</a:t>
            </a:r>
            <a:endParaRPr lang="en-US" sz="130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Foydalanuvchi bilan muloqot qiladi, menyuni ko'rsatadi va buyruqlarni qabul qiladi.</a:t>
            </a:r>
            <a:endParaRPr lang="en-US" sz="130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2. services/ = Mantiqiy motor</a:t>
            </a:r>
            <a:endParaRPr lang="en-US" sz="130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auth_service: Kirish/Ro'yxatdan o'tish.</a:t>
            </a:r>
            <a:endParaRPr lang="en-US" sz="130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parking_logic: Slotlarni boshqarish.</a:t>
            </a:r>
            <a:endParaRPr lang="en-US" sz="130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billing: Pul hisoblash.</a:t>
            </a:r>
            <a:endParaRPr lang="en-US" sz="130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3. models/ = Ma'lumot qolipi</a:t>
            </a:r>
            <a:endParaRPr lang="en-US" sz="130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User, Car, Payment klasslari. Ma'lumotlar qanday tuzilishga ega ekanligini belgilaydi.</a:t>
            </a:r>
            <a:endParaRPr lang="en-US" sz="130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4. utils/ = Filtr / Yordamchi</a:t>
            </a:r>
            <a:endParaRPr lang="en-US" sz="130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validators: Telefon raqami va davlat raqamini Regex orqali tekshiradi.</a:t>
            </a:r>
            <a:endParaRPr lang="en-US" sz="130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5. data/ = Ombor (Storage)</a:t>
            </a:r>
            <a:endParaRPr lang="en-US" sz="130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data.json: Barcha ma'lumotlar fizik holatda shu yerda saqlanadi.</a:t>
            </a:r>
            <a:endParaRPr lang="en-US" sz="130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6. tests/ = Sifat kafolati</a:t>
            </a:r>
            <a:endParaRPr lang="en-US" sz="130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Dastur ishga tushishidan oldin barcha funksiyalar xatosizligini tekshiradi.</a:t>
            </a:r>
            <a:endParaRPr lang="en-US" sz="130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714500" y="3046660"/>
            <a:ext cx="2476500" cy="1717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857750" y="3046660"/>
            <a:ext cx="2476500" cy="1717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001000" y="3046660"/>
            <a:ext cx="2476500" cy="150748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/>
        </p:nvSpPr>
        <p:spPr>
          <a:xfrm>
            <a:off x="790575" y="681355"/>
            <a:ext cx="11401425" cy="46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DATABASE SCHEMA </a:t>
            </a:r>
            <a:endParaRPr lang="en-US" sz="3000" b="1" i="0" u="none" strike="noStrike" cap="none">
              <a:solidFill>
                <a:srgbClr val="0033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18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4381500" y="3790801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8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7524750" y="3790801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8"/>
          <p:cNvSpPr txBox="1"/>
          <p:nvPr/>
        </p:nvSpPr>
        <p:spPr>
          <a:xfrm>
            <a:off x="1876425" y="3411140"/>
            <a:ext cx="2260282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User_Model</a:t>
            </a:r>
            <a:endParaRPr lang="en-US" sz="1200" b="1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1876425" y="3649265"/>
            <a:ext cx="2152650" cy="1905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1876425" y="3763565"/>
            <a:ext cx="21526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username String</a:t>
            </a:r>
            <a:endParaRPr lang="en-US" sz="975" b="0" i="0" u="none" strike="noStrike" cap="none">
              <a:solidFill>
                <a:srgbClr val="00000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1876425" y="3973115"/>
            <a:ext cx="21526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pwd_hash SHA256</a:t>
            </a:r>
            <a:endParaRPr lang="en-US" sz="975" b="0" i="0" u="none" strike="noStrike" cap="none">
              <a:solidFill>
                <a:srgbClr val="00000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1876425" y="4182665"/>
            <a:ext cx="21526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phone String</a:t>
            </a:r>
            <a:endParaRPr lang="en-US" sz="975" b="0" i="0" u="none" strike="noStrike" cap="none">
              <a:solidFill>
                <a:srgbClr val="00000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3" name="Google Shape;183;p18"/>
          <p:cNvSpPr txBox="1"/>
          <p:nvPr/>
        </p:nvSpPr>
        <p:spPr>
          <a:xfrm>
            <a:off x="1876425" y="4392215"/>
            <a:ext cx="21526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role Enum</a:t>
            </a:r>
            <a:endParaRPr lang="en-US" sz="975" b="0" i="0" u="none" strike="noStrike" cap="none">
              <a:solidFill>
                <a:srgbClr val="00000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4" name="Google Shape;184;p18"/>
          <p:cNvSpPr txBox="1"/>
          <p:nvPr/>
        </p:nvSpPr>
        <p:spPr>
          <a:xfrm>
            <a:off x="5019675" y="3411140"/>
            <a:ext cx="2260282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Car_Model</a:t>
            </a:r>
            <a:endParaRPr lang="en-US" sz="1200" b="1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5019675" y="3649265"/>
            <a:ext cx="2152650" cy="1905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 txBox="1"/>
          <p:nvPr/>
        </p:nvSpPr>
        <p:spPr>
          <a:xfrm>
            <a:off x="5019675" y="3763565"/>
            <a:ext cx="21526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reg_num String</a:t>
            </a:r>
            <a:endParaRPr lang="en-US" sz="975" b="0" i="0" u="none" strike="noStrike" cap="none">
              <a:solidFill>
                <a:srgbClr val="00000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7" name="Google Shape;187;p18"/>
          <p:cNvSpPr txBox="1"/>
          <p:nvPr/>
        </p:nvSpPr>
        <p:spPr>
          <a:xfrm>
            <a:off x="5019675" y="3973115"/>
            <a:ext cx="21526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owner_id FK</a:t>
            </a:r>
            <a:endParaRPr lang="en-US" sz="975" b="0" i="0" u="none" strike="noStrike" cap="none">
              <a:solidFill>
                <a:srgbClr val="00000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8" name="Google Shape;188;p18"/>
          <p:cNvSpPr txBox="1"/>
          <p:nvPr/>
        </p:nvSpPr>
        <p:spPr>
          <a:xfrm>
            <a:off x="5019675" y="4182665"/>
            <a:ext cx="21526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slot_id Integer</a:t>
            </a:r>
            <a:endParaRPr lang="en-US" sz="975" b="0" i="0" u="none" strike="noStrike" cap="none">
              <a:solidFill>
                <a:srgbClr val="00000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9" name="Google Shape;189;p18"/>
          <p:cNvSpPr txBox="1"/>
          <p:nvPr/>
        </p:nvSpPr>
        <p:spPr>
          <a:xfrm>
            <a:off x="5019675" y="4392215"/>
            <a:ext cx="21526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entry_time DateTime</a:t>
            </a:r>
            <a:endParaRPr lang="en-US" sz="975" b="0" i="0" u="none" strike="noStrike" cap="none">
              <a:solidFill>
                <a:srgbClr val="00000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8162925" y="3411140"/>
            <a:ext cx="2260282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Payment_Model</a:t>
            </a:r>
            <a:endParaRPr lang="en-US" sz="1200" b="1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8162925" y="3649265"/>
            <a:ext cx="2152650" cy="19050"/>
          </a:xfrm>
          <a:prstGeom prst="rect">
            <a:avLst/>
          </a:prstGeom>
          <a:solidFill>
            <a:srgbClr val="DAA52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 txBox="1"/>
          <p:nvPr/>
        </p:nvSpPr>
        <p:spPr>
          <a:xfrm>
            <a:off x="8162925" y="3763565"/>
            <a:ext cx="21526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id UUID</a:t>
            </a:r>
            <a:endParaRPr lang="en-US" sz="975" b="0" i="0" u="none" strike="noStrike" cap="none">
              <a:solidFill>
                <a:srgbClr val="00000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3" name="Google Shape;193;p18"/>
          <p:cNvSpPr txBox="1"/>
          <p:nvPr/>
        </p:nvSpPr>
        <p:spPr>
          <a:xfrm>
            <a:off x="8162925" y="3973115"/>
            <a:ext cx="21526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amount Decimal</a:t>
            </a:r>
            <a:endParaRPr lang="en-US" sz="975" b="0" i="0" u="none" strike="noStrike" cap="none">
              <a:solidFill>
                <a:srgbClr val="00000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4" name="Google Shape;194;p18"/>
          <p:cNvSpPr txBox="1"/>
          <p:nvPr/>
        </p:nvSpPr>
        <p:spPr>
          <a:xfrm>
            <a:off x="8162925" y="4182665"/>
            <a:ext cx="2152650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000000"/>
                </a:solidFill>
                <a:latin typeface="Fira Code"/>
                <a:ea typeface="Fira Code"/>
                <a:cs typeface="Fira Code"/>
                <a:sym typeface="Fira Code"/>
              </a:rPr>
              <a:t>currency "UZS"</a:t>
            </a:r>
            <a:endParaRPr lang="en-US" sz="975" b="0" i="0" u="none" strike="noStrike" cap="none">
              <a:solidFill>
                <a:srgbClr val="00000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815679"/>
            <a:ext cx="3492400" cy="2179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9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349650" y="2815679"/>
            <a:ext cx="3492549" cy="217914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9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127950" y="2815679"/>
            <a:ext cx="3492400" cy="2179141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19"/>
          <p:cNvSpPr txBox="1"/>
          <p:nvPr/>
        </p:nvSpPr>
        <p:spPr>
          <a:xfrm>
            <a:off x="790575" y="681355"/>
            <a:ext cx="11401425" cy="46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FOYDALANUVCHI ROLLARI</a:t>
            </a:r>
            <a:endParaRPr lang="en-US" sz="3000" b="1" i="0" u="none" strike="noStrike" cap="none">
              <a:solidFill>
                <a:srgbClr val="0033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6" name="Google Shape;206;p19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66775" y="3110954"/>
            <a:ext cx="290185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9"/>
          <p:cNvSpPr txBox="1"/>
          <p:nvPr/>
        </p:nvSpPr>
        <p:spPr>
          <a:xfrm>
            <a:off x="866775" y="3730079"/>
            <a:ext cx="304694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Admin</a:t>
            </a:r>
            <a:endParaRPr lang="en-US" sz="1405" b="1" i="0" u="none" strike="noStrike" cap="none">
              <a:solidFill>
                <a:srgbClr val="0033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8" name="Google Shape;208;p19"/>
          <p:cNvSpPr txBox="1"/>
          <p:nvPr/>
        </p:nvSpPr>
        <p:spPr>
          <a:xfrm>
            <a:off x="866775" y="4139654"/>
            <a:ext cx="290185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Barcha tizimni nazorat qiladi. Faqat ichki script orqali yaratiladi.</a:t>
            </a:r>
            <a:endParaRPr lang="en-US" sz="1050" b="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09" name="Google Shape;209;p19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4644925" y="3110954"/>
            <a:ext cx="2901999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9"/>
          <p:cNvSpPr txBox="1"/>
          <p:nvPr/>
        </p:nvSpPr>
        <p:spPr>
          <a:xfrm>
            <a:off x="4644925" y="3730079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Operator</a:t>
            </a:r>
            <a:endParaRPr lang="en-US" sz="1405" b="1" i="0" u="none" strike="noStrike" cap="none">
              <a:solidFill>
                <a:srgbClr val="0033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1" name="Google Shape;211;p19"/>
          <p:cNvSpPr txBox="1"/>
          <p:nvPr/>
        </p:nvSpPr>
        <p:spPr>
          <a:xfrm>
            <a:off x="4644925" y="4139654"/>
            <a:ext cx="2901999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Kundalik operatsiyalar: Kirish-chiqish va foydalanuvchilar ro'yxati.</a:t>
            </a:r>
            <a:endParaRPr lang="en-US" sz="1050" b="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12" name="Google Shape;212;p19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8423225" y="3110954"/>
            <a:ext cx="290185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9"/>
          <p:cNvSpPr txBox="1"/>
          <p:nvPr/>
        </p:nvSpPr>
        <p:spPr>
          <a:xfrm>
            <a:off x="8423225" y="3730079"/>
            <a:ext cx="304694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User</a:t>
            </a:r>
            <a:endParaRPr lang="en-US" sz="1405" b="1" i="0" u="none" strike="noStrike" cap="none">
              <a:solidFill>
                <a:srgbClr val="0033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4" name="Google Shape;214;p19"/>
          <p:cNvSpPr txBox="1"/>
          <p:nvPr/>
        </p:nvSpPr>
        <p:spPr>
          <a:xfrm>
            <a:off x="8423225" y="4139654"/>
            <a:ext cx="2901850" cy="426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O'z mashinasini boshqarish, bronlash va bildirishnomalarni ko'rish.</a:t>
            </a:r>
            <a:endParaRPr lang="en-US" sz="1050" b="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0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0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34125" y="3362325"/>
            <a:ext cx="5286375" cy="10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0"/>
          <p:cNvSpPr txBox="1"/>
          <p:nvPr/>
        </p:nvSpPr>
        <p:spPr>
          <a:xfrm>
            <a:off x="808355" y="681355"/>
            <a:ext cx="11401425" cy="46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XAVFSIZLIK</a:t>
            </a:r>
            <a:endParaRPr lang="en-US" sz="3000" b="1" i="0" u="none" strike="noStrike" cap="none">
              <a:solidFill>
                <a:srgbClr val="0033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1000125" y="3338512"/>
            <a:ext cx="48577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Parollar hech qachon ochiq saqlanmaydi.</a:t>
            </a:r>
            <a:endParaRPr lang="en-US" sz="1425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5" name="Google Shape;225;p20"/>
          <p:cNvSpPr txBox="1"/>
          <p:nvPr/>
        </p:nvSpPr>
        <p:spPr>
          <a:xfrm>
            <a:off x="1000125" y="3767137"/>
            <a:ext cx="48577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SHA-256 bir tomonlama xeshlash algoritmi.</a:t>
            </a:r>
            <a:endParaRPr lang="en-US" sz="1425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26" name="Google Shape;226;p20"/>
          <p:cNvSpPr txBox="1"/>
          <p:nvPr/>
        </p:nvSpPr>
        <p:spPr>
          <a:xfrm>
            <a:off x="1000125" y="4195762"/>
            <a:ext cx="48577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Login jarayonida xeshlar solishtiriladi.</a:t>
            </a:r>
            <a:endParaRPr lang="en-US" sz="1425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27" name="Google Shape;227;p20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3371850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0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3800475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0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571500" y="4229100"/>
            <a:ext cx="314325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21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1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922240"/>
            <a:ext cx="3492400" cy="1965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1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349650" y="2922240"/>
            <a:ext cx="3492549" cy="1965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21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127950" y="2922240"/>
            <a:ext cx="3492400" cy="196587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1"/>
          <p:cNvSpPr txBox="1"/>
          <p:nvPr/>
        </p:nvSpPr>
        <p:spPr>
          <a:xfrm>
            <a:off x="794385" y="681355"/>
            <a:ext cx="11401425" cy="46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REGEX VA MALUMOT VALIDATSIYASI</a:t>
            </a:r>
            <a:endParaRPr lang="en-US" sz="3000" b="1" i="0" u="none" strike="noStrike" cap="none">
              <a:solidFill>
                <a:srgbClr val="0033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21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66775" y="3217515"/>
            <a:ext cx="290185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1"/>
          <p:cNvSpPr txBox="1"/>
          <p:nvPr/>
        </p:nvSpPr>
        <p:spPr>
          <a:xfrm>
            <a:off x="794228" y="3969990"/>
            <a:ext cx="304694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Telefon</a:t>
            </a:r>
            <a:endParaRPr lang="en-US" sz="1405" b="1" i="0" u="none" strike="noStrike" cap="none">
              <a:solidFill>
                <a:srgbClr val="0033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3" name="Google Shape;243;p21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4644925" y="3217515"/>
            <a:ext cx="2901999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1"/>
          <p:cNvSpPr txBox="1"/>
          <p:nvPr/>
        </p:nvSpPr>
        <p:spPr>
          <a:xfrm>
            <a:off x="4572375" y="3969990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Auto Raqam</a:t>
            </a:r>
            <a:endParaRPr lang="en-US" sz="1405" b="1" i="0" u="none" strike="noStrike" cap="none">
              <a:solidFill>
                <a:srgbClr val="0033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45" name="Google Shape;245;p21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8423225" y="3217515"/>
            <a:ext cx="290185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1"/>
          <p:cNvSpPr txBox="1"/>
          <p:nvPr/>
        </p:nvSpPr>
        <p:spPr>
          <a:xfrm>
            <a:off x="8350679" y="3955385"/>
            <a:ext cx="304694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Username</a:t>
            </a:r>
            <a:endParaRPr lang="en-US" sz="1405" b="1" i="0" u="none" strike="noStrike" cap="none">
              <a:solidFill>
                <a:srgbClr val="0033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8423225" y="4231610"/>
            <a:ext cx="29018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Kamida 3 belgi, Unikal</a:t>
            </a:r>
            <a:endParaRPr lang="en-US" sz="1050" b="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2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2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528887"/>
            <a:ext cx="5286375" cy="275272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2"/>
          <p:cNvSpPr txBox="1"/>
          <p:nvPr/>
        </p:nvSpPr>
        <p:spPr>
          <a:xfrm>
            <a:off x="790575" y="73152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KIRISH OPERATSIYASI ALGORITMI</a:t>
            </a:r>
            <a:endParaRPr lang="en-US" sz="3000" b="1" i="0" u="none" strike="noStrike" cap="none">
              <a:solidFill>
                <a:srgbClr val="0033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2"/>
          <p:cNvSpPr txBox="1"/>
          <p:nvPr/>
        </p:nvSpPr>
        <p:spPr>
          <a:xfrm>
            <a:off x="857250" y="3005137"/>
            <a:ext cx="4714875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1. Step: Avto raqam regex orqali tekshiriladi.</a:t>
            </a:r>
            <a:endParaRPr lang="en-US" sz="150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8" name="Google Shape;258;p22"/>
          <p:cNvSpPr txBox="1"/>
          <p:nvPr/>
        </p:nvSpPr>
        <p:spPr>
          <a:xfrm>
            <a:off x="857250" y="3500437"/>
            <a:ext cx="4714875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2. Step: Bazadan bo'sh slot qidiriladi (0-9).</a:t>
            </a:r>
            <a:endParaRPr lang="en-US" sz="150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9" name="Google Shape;259;p22"/>
          <p:cNvSpPr txBox="1"/>
          <p:nvPr/>
        </p:nvSpPr>
        <p:spPr>
          <a:xfrm>
            <a:off x="857250" y="3995737"/>
            <a:ext cx="4714875" cy="738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3. Step: ISO8601 formatida entry_time muhrlanadi.</a:t>
            </a:r>
            <a:endParaRPr lang="en-US" sz="150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60" name="Google Shape;260;p22"/>
          <p:cNvSpPr txBox="1"/>
          <p:nvPr/>
        </p:nvSpPr>
        <p:spPr>
          <a:xfrm>
            <a:off x="857250" y="4734242"/>
            <a:ext cx="4714875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4. Step: Slot holati 'Occupied'ga o'zgaradi.</a:t>
            </a:r>
            <a:endParaRPr lang="en-US" sz="150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61" name="Google Shape;261;p22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262937" y="3190875"/>
            <a:ext cx="1428750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2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3062287"/>
            <a:ext cx="11049000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3"/>
          <p:cNvSpPr txBox="1"/>
          <p:nvPr/>
        </p:nvSpPr>
        <p:spPr>
          <a:xfrm>
            <a:off x="790575" y="681355"/>
            <a:ext cx="11401425" cy="46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CHIQISH VA TO’LOV HISOBI</a:t>
            </a:r>
            <a:endParaRPr lang="en-US" sz="3000" b="1" i="0" u="none" strike="noStrike" cap="none">
              <a:solidFill>
                <a:srgbClr val="0033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1" name="Google Shape;271;p23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241500" y="4386262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3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038701" y="4386262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3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9778900" y="4386262"/>
            <a:ext cx="190500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4"/>
          <p:cNvSpPr txBox="1"/>
          <p:nvPr/>
        </p:nvSpPr>
        <p:spPr>
          <a:xfrm>
            <a:off x="762000" y="678815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SLOTLARNI BRONLASH TIZIMI</a:t>
            </a:r>
            <a:endParaRPr lang="en-US" sz="3000" b="1" i="0" u="none" strike="noStrike" cap="none">
              <a:solidFill>
                <a:srgbClr val="0033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1" name="Google Shape;281;p24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4"/>
          <p:cNvSpPr txBox="1"/>
          <p:nvPr/>
        </p:nvSpPr>
        <p:spPr>
          <a:xfrm>
            <a:off x="571500" y="2957512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Userlar uchun qulaylik: joyni oldindan band qilish imkoniyati.</a:t>
            </a:r>
            <a:endParaRPr lang="en-US" sz="1500" b="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83" name="Google Shape;283;p2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629400" y="3062287"/>
            <a:ext cx="4695825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4"/>
          <p:cNvSpPr txBox="1"/>
          <p:nvPr/>
        </p:nvSpPr>
        <p:spPr>
          <a:xfrm>
            <a:off x="6629400" y="4014787"/>
            <a:ext cx="46958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Xizmat ko'rsatish sifatini oshiradi.</a:t>
            </a:r>
            <a:endParaRPr lang="en-US" sz="1500" b="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5" name="Google Shape;285;p24"/>
          <p:cNvSpPr txBox="1"/>
          <p:nvPr/>
        </p:nvSpPr>
        <p:spPr>
          <a:xfrm>
            <a:off x="1000125" y="3757612"/>
            <a:ext cx="48577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Slot holati: 'Reserved'.</a:t>
            </a:r>
            <a:endParaRPr lang="en-US" sz="1425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6" name="Google Shape;286;p24"/>
          <p:cNvSpPr txBox="1"/>
          <p:nvPr/>
        </p:nvSpPr>
        <p:spPr>
          <a:xfrm>
            <a:off x="1000125" y="4186237"/>
            <a:ext cx="48577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Bronni bekor qilish funksiyasi.</a:t>
            </a:r>
            <a:endParaRPr lang="en-US" sz="1425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87" name="Google Shape;287;p24"/>
          <p:cNvSpPr txBox="1"/>
          <p:nvPr/>
        </p:nvSpPr>
        <p:spPr>
          <a:xfrm>
            <a:off x="1000125" y="4614862"/>
            <a:ext cx="48577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Bron tasdiqlanganligi haqida bildirishnoma.</a:t>
            </a:r>
            <a:endParaRPr lang="en-US" sz="1425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88" name="Google Shape;288;p2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1500" y="3790950"/>
            <a:ext cx="1905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4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71500" y="4219575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4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571500" y="4648200"/>
            <a:ext cx="247650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2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893252" y="2440940"/>
            <a:ext cx="2857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5"/>
          <p:cNvSpPr txBox="1"/>
          <p:nvPr/>
        </p:nvSpPr>
        <p:spPr>
          <a:xfrm>
            <a:off x="757555" y="696595"/>
            <a:ext cx="11401425" cy="4616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SIFAT NAZORATI</a:t>
            </a:r>
            <a:endParaRPr lang="en-US" sz="3000" b="1" i="0" u="none" strike="noStrike" cap="none">
              <a:solidFill>
                <a:srgbClr val="0033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9" name="Google Shape;299;p25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5"/>
          <p:cNvSpPr txBox="1"/>
          <p:nvPr/>
        </p:nvSpPr>
        <p:spPr>
          <a:xfrm>
            <a:off x="2842895" y="3902710"/>
            <a:ext cx="957580" cy="36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66534"/>
                </a:solidFill>
                <a:latin typeface="Inter"/>
                <a:ea typeface="Inter"/>
                <a:cs typeface="Inter"/>
                <a:sym typeface="Inter"/>
              </a:rPr>
              <a:t>PASSED</a:t>
            </a:r>
            <a:endParaRPr lang="en-US" sz="1500" b="1" i="0" u="none" strike="noStrike" cap="none">
              <a:solidFill>
                <a:srgbClr val="16653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2" name="Google Shape;302;p25"/>
          <p:cNvSpPr txBox="1"/>
          <p:nvPr/>
        </p:nvSpPr>
        <p:spPr>
          <a:xfrm>
            <a:off x="6762750" y="3124200"/>
            <a:ext cx="48577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Register &amp; Login Tests</a:t>
            </a:r>
            <a:endParaRPr lang="en-US" sz="1425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3" name="Google Shape;303;p25"/>
          <p:cNvSpPr txBox="1"/>
          <p:nvPr/>
        </p:nvSpPr>
        <p:spPr>
          <a:xfrm>
            <a:off x="6762750" y="3552825"/>
            <a:ext cx="48577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Billing Calculation Tests</a:t>
            </a:r>
            <a:endParaRPr lang="en-US" sz="1425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4" name="Google Shape;304;p25"/>
          <p:cNvSpPr txBox="1"/>
          <p:nvPr/>
        </p:nvSpPr>
        <p:spPr>
          <a:xfrm>
            <a:off x="6762750" y="3981450"/>
            <a:ext cx="48577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Slot Overflow Tests</a:t>
            </a:r>
            <a:endParaRPr lang="en-US" sz="1425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5" name="Google Shape;305;p25"/>
          <p:cNvSpPr txBox="1"/>
          <p:nvPr/>
        </p:nvSpPr>
        <p:spPr>
          <a:xfrm>
            <a:off x="6762750" y="4410075"/>
            <a:ext cx="485775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Regex Pattern Validation</a:t>
            </a:r>
            <a:endParaRPr lang="en-US" sz="1425" b="0" i="0" u="none" strike="noStrike" cap="none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06" name="Google Shape;306;p2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34125" y="3157537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2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34125" y="3586162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2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34125" y="4014787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34125" y="4443412"/>
            <a:ext cx="2476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" name="Text Box 0"/>
          <p:cNvSpPr txBox="1"/>
          <p:nvPr/>
        </p:nvSpPr>
        <p:spPr>
          <a:xfrm>
            <a:off x="2694940" y="3401060"/>
            <a:ext cx="12954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/>
              <a:t>100%</a:t>
            </a:r>
            <a:endParaRPr lang="en-US" sz="2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5" name="Google Shape;315;p2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922240"/>
            <a:ext cx="3492400" cy="1965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349650" y="2922240"/>
            <a:ext cx="3492549" cy="1965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6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127950" y="2922240"/>
            <a:ext cx="3492400" cy="196587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6"/>
          <p:cNvSpPr txBox="1"/>
          <p:nvPr/>
        </p:nvSpPr>
        <p:spPr>
          <a:xfrm>
            <a:off x="790575" y="71374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KELAJAKDAGI RIVOJLANISH</a:t>
            </a:r>
            <a:endParaRPr lang="en-US" sz="3000" b="1" i="0" u="none" strike="noStrike" cap="none">
              <a:solidFill>
                <a:srgbClr val="0033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0" name="Google Shape;320;p26"/>
          <p:cNvSpPr/>
          <p:nvPr/>
        </p:nvSpPr>
        <p:spPr>
          <a:xfrm>
            <a:off x="571500" y="571500"/>
            <a:ext cx="95250" cy="5715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1" name="Google Shape;321;p26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66775" y="3217515"/>
            <a:ext cx="290185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6"/>
          <p:cNvSpPr txBox="1"/>
          <p:nvPr/>
        </p:nvSpPr>
        <p:spPr>
          <a:xfrm>
            <a:off x="866775" y="3836640"/>
            <a:ext cx="304694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PostgreSQL</a:t>
            </a:r>
            <a:endParaRPr lang="en-US" sz="1405" b="1" i="0" u="none" strike="noStrike" cap="none">
              <a:solidFill>
                <a:srgbClr val="0033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3" name="Google Shape;323;p26"/>
          <p:cNvSpPr txBox="1"/>
          <p:nvPr/>
        </p:nvSpPr>
        <p:spPr>
          <a:xfrm>
            <a:off x="866775" y="4246215"/>
            <a:ext cx="29018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Professional SQL bazaga o'tish.</a:t>
            </a:r>
            <a:endParaRPr lang="en-US" sz="1050" b="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24" name="Google Shape;324;p26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4644925" y="3217515"/>
            <a:ext cx="2901999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6"/>
          <p:cNvSpPr txBox="1"/>
          <p:nvPr/>
        </p:nvSpPr>
        <p:spPr>
          <a:xfrm>
            <a:off x="4644925" y="3836640"/>
            <a:ext cx="3047099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Web UI</a:t>
            </a:r>
            <a:endParaRPr lang="en-US" sz="1405" b="1" i="0" u="none" strike="noStrike" cap="none">
              <a:solidFill>
                <a:srgbClr val="0033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6" name="Google Shape;326;p26"/>
          <p:cNvSpPr txBox="1"/>
          <p:nvPr/>
        </p:nvSpPr>
        <p:spPr>
          <a:xfrm>
            <a:off x="4644925" y="4246215"/>
            <a:ext cx="2901999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FastAPI va React asosida Web interfeys.</a:t>
            </a:r>
            <a:endParaRPr lang="en-US" sz="1050" b="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27" name="Google Shape;327;p26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8423225" y="3217515"/>
            <a:ext cx="290185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6"/>
          <p:cNvSpPr txBox="1"/>
          <p:nvPr/>
        </p:nvSpPr>
        <p:spPr>
          <a:xfrm>
            <a:off x="8423225" y="3836640"/>
            <a:ext cx="3046943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5" b="1" i="0" u="none" strike="noStrike" cap="none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Mobile App</a:t>
            </a:r>
            <a:endParaRPr lang="en-US" sz="1405" b="1" i="0" u="none" strike="noStrike" cap="none">
              <a:solidFill>
                <a:srgbClr val="0033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9" name="Google Shape;329;p26"/>
          <p:cNvSpPr txBox="1"/>
          <p:nvPr/>
        </p:nvSpPr>
        <p:spPr>
          <a:xfrm>
            <a:off x="8423225" y="4246215"/>
            <a:ext cx="2901850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Foydalanuvchilar uchun mobil ilova.</a:t>
            </a:r>
            <a:endParaRPr lang="en-US" sz="1050" b="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2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424362" y="4440584"/>
            <a:ext cx="3343275" cy="929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500687" y="1487834"/>
            <a:ext cx="1190625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7"/>
          <p:cNvSpPr txBox="1"/>
          <p:nvPr/>
        </p:nvSpPr>
        <p:spPr>
          <a:xfrm>
            <a:off x="3885723" y="2821334"/>
            <a:ext cx="4420552" cy="738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Etiboringiz </a:t>
            </a:r>
            <a:endParaRPr lang="en-US" sz="2400" b="1">
              <a:solidFill>
                <a:srgbClr val="00336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3366"/>
                </a:solidFill>
                <a:latin typeface="Poppins"/>
                <a:ea typeface="Poppins"/>
                <a:cs typeface="Poppins"/>
                <a:sym typeface="Poppins"/>
              </a:rPr>
              <a:t>uchun rahmat</a:t>
            </a:r>
            <a:endParaRPr lang="en-US" sz="2400" b="1" i="0" u="none" strike="noStrike" cap="none">
              <a:solidFill>
                <a:srgbClr val="00336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39" name="Google Shape;339;p27"/>
          <p:cNvSpPr txBox="1"/>
          <p:nvPr/>
        </p:nvSpPr>
        <p:spPr>
          <a:xfrm>
            <a:off x="3905250" y="3469034"/>
            <a:ext cx="4381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Parking Boshqaruv Tizimi - Samara va Xavfsizlik</a:t>
            </a:r>
            <a:endParaRPr lang="en-US" sz="1500" b="0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40" name="Google Shape;340;p27"/>
          <p:cNvSpPr txBox="1"/>
          <p:nvPr/>
        </p:nvSpPr>
        <p:spPr>
          <a:xfrm>
            <a:off x="4614862" y="4783484"/>
            <a:ext cx="2962275" cy="294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Savollar bormi? </a:t>
            </a:r>
            <a:endParaRPr lang="en-US" sz="1200" b="1" i="0" u="none" strike="noStrike" cap="none">
              <a:solidFill>
                <a:srgbClr val="334155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3316</Words>
  <Application>WPS Presentation</Application>
  <PresentationFormat/>
  <Paragraphs>200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2" baseType="lpstr">
      <vt:lpstr>Arial</vt:lpstr>
      <vt:lpstr>SimSun</vt:lpstr>
      <vt:lpstr>Wingdings</vt:lpstr>
      <vt:lpstr>Arial</vt:lpstr>
      <vt:lpstr>DejaVu Sans</vt:lpstr>
      <vt:lpstr>Calibri</vt:lpstr>
      <vt:lpstr>Poppins</vt:lpstr>
      <vt:lpstr>Gubbi</vt:lpstr>
      <vt:lpstr>Inter</vt:lpstr>
      <vt:lpstr>Inter SemiBold</vt:lpstr>
      <vt:lpstr>Fira Code</vt:lpstr>
      <vt:lpstr>Microsoft YaHei</vt:lpstr>
      <vt:lpstr>Droid Sans Fallback</vt:lpstr>
      <vt:lpstr>Arial Unicode MS</vt:lpstr>
      <vt:lpstr>OpenSymbol</vt:lpstr>
      <vt:lpstr>Noto Sans Symbols2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abd1bayev</cp:lastModifiedBy>
  <cp:revision>4</cp:revision>
  <dcterms:created xsi:type="dcterms:W3CDTF">2026-01-20T17:07:50Z</dcterms:created>
  <dcterms:modified xsi:type="dcterms:W3CDTF">2026-01-20T17:07:50Z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